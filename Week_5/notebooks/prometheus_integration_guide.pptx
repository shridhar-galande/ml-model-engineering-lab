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step-by-step reference card for integrating Prometheus into your ML model service. Each slide corresponds to one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ML services use BOTH: the prediction API uses pull (long-running), while the drift monitoring batch job uses push (runs hourly and exits).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 vs Gauge: the most common mistake is using a Gauge where a Counter is correct. If the value can only go up, use Counter — Prometheus can then compute rates from it with rate().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rule: NEVER define metrics inside a function. They must be module-level singletons. Defining inside a function causes 'Duplicate metrics'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fresh registry is critical for batch jobs. Without it, running the script twice in the same Python process causes duplicate metric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'for' field is critical for alert quality. 'for: 5m' means the condition must be true for 5 consecutive minutes before firing. This prevents flapping alerts from transient spikes.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PromQL tip: rate() computes per-second rate over a time window and is essential for counters. histogram_quantile() extracts p50/p95/p99 from histogram buckets.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auto-refresh to 30s in Grafana. Use 'Last 1h' as default time range for operational dashboards, 'Last 7d' for trend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docker-compose approach is the fastest way to get everything running locally. For production, use Kubernetes + Helm charts for Prometheus stack (kube-prometheus-stack).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mistake by far: defining metrics inside a function. Remind students: think of metric definitions like database table creation — you do it once at startup.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74320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 ·  MLOPS  ·  PROMETHEUS INTEGRATION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138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Guide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metrics → endpoint → scraping → alerting → Grafana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84048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840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Steps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384048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00CFB4">
              <a:alpha val="22000"/>
            </a:srgbClr>
          </a:solidFill>
          <a:ln w="12700">
            <a:solidFill>
              <a:srgbClr val="00CFB4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3840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prometheus_client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384048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840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Flask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384048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1565C0">
              <a:alpha val="22000"/>
            </a:srgbClr>
          </a:solidFill>
          <a:ln w="12700">
            <a:solidFill>
              <a:srgbClr val="1565C0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3840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Ready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HOW IT FITS TOGETHER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565C0">
              <a:alpha val="14000"/>
            </a:srgbClr>
          </a:solidFill>
          <a:ln w="12700">
            <a:solidFill>
              <a:srgbClr val="1565C0">
                <a:alpha val="44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:8000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0972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44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:9090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0" y="10972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2C55E">
              <a:alpha val="14000"/>
            </a:srgbClr>
          </a:solidFill>
          <a:ln w="12700">
            <a:solidFill>
              <a:srgbClr val="22C55E">
                <a:alpha val="44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7C3AED">
              <a:alpha val="14000"/>
            </a:srgbClr>
          </a:solidFill>
          <a:ln w="12700">
            <a:solidFill>
              <a:srgbClr val="7C3AED">
                <a:alpha val="44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286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:9091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2860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E84855">
              <a:alpha val="14000"/>
            </a:srgbClr>
          </a:solidFill>
          <a:ln w="12700">
            <a:solidFill>
              <a:srgbClr val="E84855">
                <a:alpha val="44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286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:9093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22860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0B4D8">
              <a:alpha val="14000"/>
            </a:srgbClr>
          </a:solidFill>
          <a:ln w="12700">
            <a:solidFill>
              <a:srgbClr val="00B4D8">
                <a:alpha val="44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2286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1417320"/>
            <a:ext cx="1280160" cy="0"/>
          </a:xfrm>
          <a:prstGeom prst="line">
            <a:avLst/>
          </a:prstGeom>
          <a:noFill/>
          <a:ln w="19050">
            <a:solidFill>
              <a:srgbClr val="5A6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/metrics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03520" y="1417320"/>
            <a:ext cx="1645920" cy="0"/>
          </a:xfrm>
          <a:prstGeom prst="line">
            <a:avLst/>
          </a:prstGeom>
          <a:noFill/>
          <a:ln w="19050">
            <a:solidFill>
              <a:srgbClr val="5A6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80160" y="1737360"/>
            <a:ext cx="0" cy="548640"/>
          </a:xfrm>
          <a:prstGeom prst="line">
            <a:avLst/>
          </a:prstGeom>
          <a:noFill/>
          <a:ln w="19050">
            <a:solidFill>
              <a:srgbClr val="5A6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1874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metrics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89120" y="1737360"/>
            <a:ext cx="0" cy="548640"/>
          </a:xfrm>
          <a:prstGeom prst="line">
            <a:avLst/>
          </a:prstGeom>
          <a:noFill/>
          <a:ln w="19050">
            <a:solidFill>
              <a:srgbClr val="5A6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1874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0" y="2606040"/>
            <a:ext cx="1645920" cy="0"/>
          </a:xfrm>
          <a:prstGeom prst="line">
            <a:avLst/>
          </a:prstGeom>
          <a:noFill/>
          <a:ln w="19050">
            <a:solidFill>
              <a:srgbClr val="5A6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468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94560" y="2606040"/>
            <a:ext cx="1280160" cy="0"/>
          </a:xfrm>
          <a:prstGeom prst="line">
            <a:avLst/>
          </a:prstGeom>
          <a:noFill/>
          <a:ln w="19050">
            <a:solidFill>
              <a:srgbClr val="5A6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2468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scraped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Prometheus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24612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1565C0">
              <a:alpha val="7000"/>
            </a:srgbClr>
          </a:solidFill>
          <a:ln w="12700">
            <a:solidFill>
              <a:srgbClr val="1565C0">
                <a:alpha val="37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0352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vs Push — which to use?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0352" y="36576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00CFB4">
              <a:alpha val="12000"/>
            </a:srgbClr>
          </a:solidFill>
          <a:ln w="12700">
            <a:solidFill>
              <a:srgbClr val="00CFB4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712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(default)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" y="39867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visits your /metrics endpoint. Best for long-running services (APIs, web servers). You expose a route; Prometheus does the rest.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36592" y="365760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712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(via Pushgateway)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39867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 pushes metrics then exits. Best for batch/cron jobs and monitoring scripts that compute drift once per hour.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METRIC TYPES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Metric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00B4D8">
              <a:alpha val="11000"/>
            </a:srgbClr>
          </a:solidFill>
          <a:ln w="12700">
            <a:solidFill>
              <a:srgbClr val="00B4D8">
                <a:alpha val="41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28016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only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57276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that only ever goes 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predictions served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errors thrown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alerts fired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2212848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1E2D40"/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8600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.inc()   — increment by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.inc(n)  — increment by 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predictions_total.labels(result='fraud').inc()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00CFB4">
              <a:alpha val="11000"/>
            </a:srgbClr>
          </a:solidFill>
          <a:ln w="12700">
            <a:solidFill>
              <a:srgbClr val="00CFB4">
                <a:alpha val="41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8016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00CFB4"/>
          </a:solidFill>
          <a:ln w="12700">
            <a:solidFill>
              <a:srgbClr val="00CF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80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↑↓ both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79008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79008" y="157276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that can go up or down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use: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04688" y="178308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AUC / recall / F1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drift score per feature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% / active requests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1E2D40"/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28600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.set(v)  — set to exact value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.inc()   — add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.dec()   — subtract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model_auc.labels(version='v3').set(0.91)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06324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59E0B">
              <a:alpha val="11000"/>
            </a:srgbClr>
          </a:solidFill>
          <a:ln w="12700">
            <a:solidFill>
              <a:srgbClr val="F59E0B">
                <a:alpha val="41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" y="31546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154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4472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values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" y="3685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use: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latency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score distribution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distribution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" y="4087368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1E2D40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6052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.observe(v) — record one value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latency.observe(0.038)  # 38ms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7C3AED">
              <a:alpha val="11000"/>
            </a:srgbClr>
          </a:solidFill>
          <a:ln w="12700">
            <a:solidFill>
              <a:srgbClr val="7C3AED">
                <a:alpha val="41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1546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154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79008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779008" y="34472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quantiles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3685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04688" y="365760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p50/p95/p99 response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 Histogram instead — more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for PromQL queries)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4087368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1E2D40"/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416052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.observe(v) — record one value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response_time.observe(0.045)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3–4 — DEFINE METRICS  &amp;  EXPOSE /metrics ENDPOINT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Pattern: FastAPI Service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1565C0">
              <a:alpha val="7000"/>
            </a:srgbClr>
          </a:solidFill>
          <a:ln w="12700">
            <a:solidFill>
              <a:srgbClr val="1565C0">
                <a:alpha val="37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Define metrics at module level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once — at startup, not inside functions)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645920"/>
            <a:ext cx="3913632" cy="3063240"/>
          </a:xfrm>
          <a:prstGeom prst="roundRect">
            <a:avLst>
              <a:gd name="adj" fmla="val 1791"/>
            </a:avLst>
          </a:prstGeom>
          <a:solidFill>
            <a:srgbClr val="1E2D40"/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19072"/>
            <a:ext cx="369417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prometheus_client import (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Counter, Gauge, Histogram,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generate_latest,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CONTENT_TYPE_LATEST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Counter — total predictions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Counter(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'fraud_predictions_total',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'Total predictions served',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['result', 'model_version']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Gauge — current model quality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= Gauge(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'fraud_model_auc',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'Rolling AUC-ROC',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['model_version']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Gauge — PSI per feature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PSI = Gauge(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'fraud_feature_psi',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'PSI drift score',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['feature']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Histogram — latency distribution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 = Histogram(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'fraud_latency_seconds',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'Prediction latency',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['model_version'],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buckets=[.01,.025,.05,.1,.2,.5,1]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81728" y="105156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00CFB4">
              <a:alpha val="7000"/>
            </a:srgbClr>
          </a:solidFill>
          <a:ln w="12700">
            <a:solidFill>
              <a:srgbClr val="00CFB4">
                <a:alpha val="37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28032" y="11155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Expose endpoint + update metrics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1389888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(Call .inc() / .set() / .observe() per request)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73168" y="1645920"/>
            <a:ext cx="3913632" cy="3063240"/>
          </a:xfrm>
          <a:prstGeom prst="roundRect">
            <a:avLst>
              <a:gd name="adj" fmla="val 1791"/>
            </a:avLst>
          </a:prstGeom>
          <a:solidFill>
            <a:srgbClr val="1E2D40"/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1719072"/>
            <a:ext cx="369417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FastAPI, Response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@app.post("/predict")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predict(payload: dict):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= time.time()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model.predict_proba(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[payload["features"]]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)[0][1]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"fraud" if score&gt;.5 else "legit"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Update metrics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PREDICTIONS.labels(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result=result,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model_version="v3.2.1"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).inc()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LATENCY.labels(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model_version="v3.2.1"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).observe(time.time() - start)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{"score": score}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Prometheus scrapes this route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@app.get("/metrics")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metrics():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Response(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content=generate_latest(),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media_type=CONTENT_TYPE_LATEST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PUSHGATEWAY FOR BATCH MONITORING JOBS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Job Pattern (Drift Monitoring)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5A6A7A">
              <a:alpha val="15000"/>
            </a:srgbClr>
          </a:solidFill>
          <a:ln w="12700">
            <a:solidFill>
              <a:srgbClr val="5A6A7A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(Airflow/cron)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67712" y="1389888"/>
            <a:ext cx="292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389888"/>
            <a:ext cx="292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73168" y="11887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:9091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93408" y="1389888"/>
            <a:ext cx="292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86016" y="11887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86016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:9090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1938528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→ computes PSI/AUC → pushes metrics → scrapes (job persists)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267712"/>
            <a:ext cx="8430768" cy="2423160"/>
          </a:xfrm>
          <a:prstGeom prst="roundRect">
            <a:avLst>
              <a:gd name="adj" fmla="val 2264"/>
            </a:avLst>
          </a:prstGeom>
          <a:solidFill>
            <a:srgbClr val="1E2D40"/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40864"/>
            <a:ext cx="821131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monitoring_job.py  — runs on a schedule (e.g. every hour via Airflow)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prometheus_client import CollectorRegistry, Gauge, push_to_gateway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run_drift_check(current_batch, reference_data, model):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Always create a fresh registry for batch push jobs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 = CollectorRegistry()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g_psi  = Gauge('fraud_feature_psi',  'PSI drift score', ['feature'], registry=registry)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g_auc  = Gauge('fraud_model_auc',    'AUC score',       ['model_version'], registry=registry)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g_rec  = Gauge('fraud_model_recall', 'Recall score',    ['model_version'], registry=registry)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Compute your metrics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feature in FEATURES: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psi_value = compute_psi(reference_data[feature], current_batch[feature])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g_psi.labels(feature=feature).set(psi_value)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auc, recall = evaluate_model(model, current_batch)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g_auc.labels(model_version='v3.2.1').set(auc)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g_rec.labels(model_version='v3.2.1').set(recall)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Push to Pushgateway — Prometheus will scrape from there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push_to_gateway('localhost:9091', job='fraud_drift_check', registry=registry)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print(f"Metrics pushed: AUC={auc:.3f}, PSI_merchant={psi_value:.3f}")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773168"/>
            <a:ext cx="8430768" cy="274320"/>
          </a:xfrm>
          <a:prstGeom prst="roundRect">
            <a:avLst>
              <a:gd name="adj" fmla="val 26667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79145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Always use CollectorRegistry() in batch jobs — avoids 'Duplicate metrics' error.  Use honor_labels: true in prometheus.yml for Pushgateway.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6–8 — CONFIG FILES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prometheus.yml  &amp;  alert_rules.yml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>
                <a:alpha val="37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— scrape config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" y="1463040"/>
            <a:ext cx="3913632" cy="3337560"/>
          </a:xfrm>
          <a:prstGeom prst="roundRect">
            <a:avLst>
              <a:gd name="adj" fmla="val 1644"/>
            </a:avLst>
          </a:prstGeom>
          <a:solidFill>
            <a:srgbClr val="1E2D40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3694176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scrape_interval: 15s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rule_files: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"alert_rules.yml"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scrape_configs: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Your ML model API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job_name: fraud_model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static_configs: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targets: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'fraud-model:8000'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metrics_path: /metrics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Pushgateway (batch jobs)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job_name: pushgateway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static_configs: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targets: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'pushgateway:9091'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keep your batch job labels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honor_labels: true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81728" y="1051560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E84855">
              <a:alpha val="7000"/>
            </a:srgbClr>
          </a:solidFill>
          <a:ln w="12700">
            <a:solidFill>
              <a:srgbClr val="E84855">
                <a:alpha val="37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1155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alert_rules.yml — alerting rules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73168" y="1463040"/>
            <a:ext cx="3913632" cy="3337560"/>
          </a:xfrm>
          <a:prstGeom prst="roundRect">
            <a:avLst>
              <a:gd name="adj" fmla="val 1644"/>
            </a:avLst>
          </a:prstGeom>
          <a:solidFill>
            <a:srgbClr val="1E2D40"/>
          </a:solidFill>
          <a:ln w="12700">
            <a:solidFill>
              <a:srgbClr val="E84855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1536192"/>
            <a:ext cx="3694176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ml_monitoring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Fire when AUC &lt; 0.80 for 5 min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alert: AUCCritical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fraud_model_auc &lt; 0.80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for: 5m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severity: critical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annotations: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summary: "AUC below SLO"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description: &gt;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AUC={{ $value | printf "%.3f" }}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Fire when PSI &gt; 0.2 (drift)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alert: FeatureDrift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fraud_feature_psi &gt; 0.20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for: 0m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severity: critical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annotations: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summary: &gt;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Drift on {{ $labels.feature }}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p95 latency &gt; 200ms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alert: HighLatency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&gt;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histogram_quantile(0.95,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rate(fraud_latency_seconds_bucket[5m])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 &gt; 0.2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for: 5m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severity: warning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8b — ESSENTIAL PROMQL QUERIES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PromQL Reference for ML Monitoring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63624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1E2D40"/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3677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fraud_model_auc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E84855">
              <a:alpha val="10000"/>
            </a:srgbClr>
          </a:solidFill>
          <a:ln w="12700">
            <a:solidFill>
              <a:srgbClr val="E84855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2984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drifting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64608" y="1563624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1E2D40"/>
          </a:solidFill>
          <a:ln w="12700">
            <a:solidFill>
              <a:srgbClr val="E84855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163677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fraud_feature_psi &gt; 0.20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00CFB4">
              <a:alpha val="10000"/>
            </a:srgbClr>
          </a:solidFill>
          <a:ln w="12700">
            <a:solidFill>
              <a:srgbClr val="00CFB4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27685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/ second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1E2D40"/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15184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rate(fraud_predictions_total[5m])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2212848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4608" y="227685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64608" y="2542032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1E2D40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2615184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rate(fraud_predictions_total{result="fraud"}[5m])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rate(fraud_predictions_total[5m])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191256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25526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1E2D40"/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593592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histogram_quantile(0.95,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rate(fraud_latency_seconds_bucket[5m]))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3191256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1565C0">
              <a:alpha val="1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325526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change vs 1h ago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64608" y="3520440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1E2D40"/>
          </a:solidFill>
          <a:ln w="12700">
            <a:solidFill>
              <a:srgbClr val="1565C0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3593592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fraud_model_auc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fraud_model_auc offset 1h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4169664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00CFB4">
              <a:alpha val="10000"/>
            </a:srgbClr>
          </a:solidFill>
          <a:ln w="12700">
            <a:solidFill>
              <a:srgbClr val="00CFB4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2336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recall (5m avg)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498848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1E2D40"/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572000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avg_over_time(fraud_model_recall[5m])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4169664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E84855">
              <a:alpha val="10000"/>
            </a:srgbClr>
          </a:solidFill>
          <a:ln w="12700">
            <a:solidFill>
              <a:srgbClr val="E84855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64608" y="42336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predictions alert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64608" y="4498848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1E2D40"/>
          </a:solidFill>
          <a:ln w="12700">
            <a:solidFill>
              <a:srgbClr val="E84855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4572000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rate(fraud_predictions_total[5m]) == 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GRAFANA DASHBOARD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 — 6-Panel ML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1565C0">
              <a:alpha val="7000"/>
            </a:srgbClr>
          </a:solidFill>
          <a:ln w="12700">
            <a:solidFill>
              <a:srgbClr val="1565C0">
                <a:alpha val="37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Login: admin / admin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Connections → Data 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465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→ Prometheus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1109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URL: http://prometheus:9090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756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Save &amp; Test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New Dashboard → Add Panel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051560"/>
            <a:ext cx="1810512" cy="1920240"/>
          </a:xfrm>
          <a:prstGeom prst="roundRect">
            <a:avLst>
              <a:gd name="adj" fmla="val 4040"/>
            </a:avLst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20440" y="11247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Over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1472184"/>
            <a:ext cx="1627632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47218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20440" y="1764792"/>
            <a:ext cx="1627632" cy="594360"/>
          </a:xfrm>
          <a:prstGeom prst="roundRect">
            <a:avLst>
              <a:gd name="adj" fmla="val 9231"/>
            </a:avLst>
          </a:prstGeom>
          <a:solidFill>
            <a:srgbClr val="1E2D40"/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1837944"/>
            <a:ext cx="14081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fraud_model_auc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0440" y="24231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0.85 warn, 0.80 crit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1051560"/>
            <a:ext cx="1810512" cy="1920240"/>
          </a:xfrm>
          <a:prstGeom prst="roundRect">
            <a:avLst>
              <a:gd name="adj" fmla="val 4040"/>
            </a:avLst>
          </a:prstGeom>
          <a:solidFill>
            <a:srgbClr val="00CFB4">
              <a:alpha val="10000"/>
            </a:srgbClr>
          </a:solidFill>
          <a:ln w="12700">
            <a:solidFill>
              <a:srgbClr val="00CFB4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0680" y="11247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Precision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1472184"/>
            <a:ext cx="1627632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CFB4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47218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1764792"/>
            <a:ext cx="1627632" cy="594360"/>
          </a:xfrm>
          <a:prstGeom prst="roundRect">
            <a:avLst>
              <a:gd name="adj" fmla="val 9231"/>
            </a:avLst>
          </a:prstGeom>
          <a:solidFill>
            <a:srgbClr val="1E2D40"/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0408" y="1837944"/>
            <a:ext cx="14081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CF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fraud_model_recall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40680" y="24231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0.75 recall SLO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69480" y="1051560"/>
            <a:ext cx="1810512" cy="1920240"/>
          </a:xfrm>
          <a:prstGeom prst="roundRect">
            <a:avLst>
              <a:gd name="adj" fmla="val 4040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60920" y="11247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PSI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60920" y="1472184"/>
            <a:ext cx="1627632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147218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60920" y="1764792"/>
            <a:ext cx="1627632" cy="594360"/>
          </a:xfrm>
          <a:prstGeom prst="roundRect">
            <a:avLst>
              <a:gd name="adj" fmla="val 9231"/>
            </a:avLst>
          </a:prstGeom>
          <a:solidFill>
            <a:srgbClr val="1E2D40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0648" y="1837944"/>
            <a:ext cx="14081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fraud_feature_psi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60920" y="24231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map: 0–0.1 green, &gt;0.2 red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29000" y="3108960"/>
            <a:ext cx="1810512" cy="1920240"/>
          </a:xfrm>
          <a:prstGeom prst="roundRect">
            <a:avLst>
              <a:gd name="adj" fmla="val 4040"/>
            </a:avLst>
          </a:prstGeom>
          <a:solidFill>
            <a:srgbClr val="1565C0">
              <a:alpha val="1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520440" y="31821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/ sec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20440" y="3529584"/>
            <a:ext cx="1627632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0440" y="352958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20440" y="3822192"/>
            <a:ext cx="1627632" cy="594360"/>
          </a:xfrm>
          <a:prstGeom prst="roundRect">
            <a:avLst>
              <a:gd name="adj" fmla="val 9231"/>
            </a:avLst>
          </a:prstGeom>
          <a:solidFill>
            <a:srgbClr val="1E2D40"/>
          </a:solidFill>
          <a:ln w="12700">
            <a:solidFill>
              <a:srgbClr val="1565C0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0168" y="3895344"/>
            <a:ext cx="14081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rate(fraud_predictions_total[5m])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20440" y="44805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if drops to 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349240" y="3108960"/>
            <a:ext cx="1810512" cy="1920240"/>
          </a:xfrm>
          <a:prstGeom prst="roundRect">
            <a:avLst>
              <a:gd name="adj" fmla="val 4040"/>
            </a:avLst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40680" y="31821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p50/p95/p99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40680" y="3529584"/>
            <a:ext cx="1627632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0680" y="352958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40680" y="3822192"/>
            <a:ext cx="1627632" cy="594360"/>
          </a:xfrm>
          <a:prstGeom prst="roundRect">
            <a:avLst>
              <a:gd name="adj" fmla="val 9231"/>
            </a:avLst>
          </a:prstGeom>
          <a:solidFill>
            <a:srgbClr val="1E2D40"/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50408" y="3895344"/>
            <a:ext cx="14081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histogram_quantile(0.95,...)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40680" y="44805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p95 &gt; 200ms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269480" y="3108960"/>
            <a:ext cx="1810512" cy="1920240"/>
          </a:xfrm>
          <a:prstGeom prst="roundRect">
            <a:avLst>
              <a:gd name="adj" fmla="val 4040"/>
            </a:avLst>
          </a:prstGeom>
          <a:solidFill>
            <a:srgbClr val="E84855">
              <a:alpha val="10000"/>
            </a:srgbClr>
          </a:solidFill>
          <a:ln w="12700">
            <a:solidFill>
              <a:srgbClr val="E84855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360920" y="318211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60920" y="3529584"/>
            <a:ext cx="1627632" cy="228600"/>
          </a:xfrm>
          <a:prstGeom prst="roundRect">
            <a:avLst>
              <a:gd name="adj" fmla="val 12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84855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60920" y="352958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(big #)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60920" y="3822192"/>
            <a:ext cx="1627632" cy="594360"/>
          </a:xfrm>
          <a:prstGeom prst="roundRect">
            <a:avLst>
              <a:gd name="adj" fmla="val 9231"/>
            </a:avLst>
          </a:prstGeom>
          <a:solidFill>
            <a:srgbClr val="1E2D40"/>
          </a:solidFill>
          <a:ln w="12700">
            <a:solidFill>
              <a:srgbClr val="E84855">
                <a:alpha val="4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70648" y="3895344"/>
            <a:ext cx="14081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E84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fraud{result=fraud}/total*100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60920" y="44805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range: 4–8%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&amp;  DEPLOYMENT CHECKLIST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docker-compose.yml  +  Go-Live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43000"/>
            <a:ext cx="4663440" cy="3657600"/>
          </a:xfrm>
          <a:prstGeom prst="roundRect">
            <a:avLst>
              <a:gd name="adj" fmla="val 1500"/>
            </a:avLst>
          </a:prstGeom>
          <a:solidFill>
            <a:srgbClr val="1E2D40"/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16152"/>
            <a:ext cx="444398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docker-compose.yml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"3.8"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fraud-model: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["8000:8000"]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prometheus: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prom/prometheus:latest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["9090:9090"]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./prometheus.yml:/etc/prometheus/prometheus.yml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./alert_rules.yml:/etc/prometheus/alert_rules.yml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pushgateway: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prom/pushgateway:latest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["9091:9091"]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grafana: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grafana/grafana:latest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["3000:3000"]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GF_SECURITY_ADMIN_PASSWORD=admin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everything: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docker-compose up -d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Ports: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Prometheus:  http://localhost:9090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Pushgateway: http://localhost:9091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Grafana:     http://localhost:3000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166360" y="1143000"/>
            <a:ext cx="3639312" cy="3657600"/>
          </a:xfrm>
          <a:prstGeom prst="roundRect">
            <a:avLst>
              <a:gd name="adj" fmla="val 2010"/>
            </a:avLst>
          </a:prstGeom>
          <a:solidFill>
            <a:srgbClr val="00CFB4">
              <a:alpha val="9000"/>
            </a:srgbClr>
          </a:solidFill>
          <a:ln w="12700">
            <a:solidFill>
              <a:srgbClr val="00CFB4">
                <a:alpha val="39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21808" y="1207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Checklist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85232" y="1572768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0CFB4">
              <a:alpha val="25000"/>
            </a:srgbClr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85232" y="1572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96128" y="15727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prometheus-client in requirements.txt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85232" y="1865376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0CFB4">
              <a:alpha val="25000"/>
            </a:srgbClr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1865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96128" y="186537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defined at module level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85232" y="2157984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0CFB4">
              <a:alpha val="25000"/>
            </a:srgbClr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215798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96128" y="215798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route added to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85232" y="2450592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0CFB4">
              <a:alpha val="25000"/>
            </a:srgbClr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245059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96128" y="24505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record_prediction() called per request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85232" y="274320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0CFB4">
              <a:alpha val="25000"/>
            </a:srgbClr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7432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96128" y="27432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monitoring job scheduled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85232" y="3035808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0CFB4">
              <a:alpha val="25000"/>
            </a:srgbClr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30358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96128" y="303580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scrape config set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85232" y="3328416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0CFB4">
              <a:alpha val="25000"/>
            </a:srgbClr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33284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96128" y="332841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alert_rules.yml loaded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85232" y="3621024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0CFB4">
              <a:alpha val="25000"/>
            </a:srgbClr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5232" y="36210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96128" y="362102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→ Slack/PagerDuty configured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85232" y="3913632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0CFB4">
              <a:alpha val="25000"/>
            </a:srgbClr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39136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96128" y="391363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created (6 panels)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85232" y="420624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0CFB4">
              <a:alpha val="25000"/>
            </a:srgbClr>
          </a:solidFill>
          <a:ln w="12700">
            <a:solidFill>
              <a:srgbClr val="00CFB4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42062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96128" y="42062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URL in team runbook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&amp; FIXES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Wrong — and How to Fix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E84855">
              <a:alpha val="8000"/>
            </a:srgbClr>
          </a:solidFill>
          <a:ln w="12700">
            <a:solidFill>
              <a:srgbClr val="E84855">
                <a:alpha val="38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14300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430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33272" y="11430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metrics inside a function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4538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ValueError: Duplicated timeseries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second function call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" y="176479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647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764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define metrics at module level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of file, not inside def or class methods)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8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4300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430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40680" y="11430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fresh registry in batch job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4538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Same error: duplicate metric on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script re-run in same process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76479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7647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1764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CollectorRegistry() in push jobs: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= CollectorRegistry(); Gauge(..., registry=reg)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377440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38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246888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468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3272" y="2468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honor_labels in scrape config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27797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Pushgateway metrics arrive but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labels are overwritten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" y="309067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0906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96112" y="30906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honor_labels: true under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pushgateway job in prometheus.yml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377440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E84855">
              <a:alpha val="8000"/>
            </a:srgbClr>
          </a:solidFill>
          <a:ln w="12700">
            <a:solidFill>
              <a:srgbClr val="E84855">
                <a:alpha val="38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46888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468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40680" y="2468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 every scrape (flapping)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7797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Slack flooded with alerts that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re-fire every 15 seconds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09067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0906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0" y="30906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for: 5m to the alert rule — it must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true for 5 min before firing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3703320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1565C0">
              <a:alpha val="8000"/>
            </a:srgbClr>
          </a:solidFill>
          <a:ln w="12700">
            <a:solidFill>
              <a:srgbClr val="1565C0">
                <a:alpha val="38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8912" y="379476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794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33272" y="3794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AUC only (labels arrive late)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8912" y="41056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No signal for days — ground truth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2 weeks after prediction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8912" y="441655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44165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96112" y="4416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monitor prediction score distribution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(shift detectable without labels)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703320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5A6A7A">
              <a:alpha val="8000"/>
            </a:srgbClr>
          </a:solidFill>
          <a:ln w="12700">
            <a:solidFill>
              <a:srgbClr val="5A6A7A">
                <a:alpha val="38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379476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794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40680" y="3794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metric name, different label sets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41056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Prometheus rejects the scrape: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label names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441655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41655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03520" y="4416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label schema first. All instances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metric must have identical label names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Prometheus Integration Guide</dc:title>
  <dc:subject>PptxGenJS Presentation</dc:subject>
  <dc:creator>PptxGenJS</dc:creator>
  <cp:lastModifiedBy>PptxGenJS</cp:lastModifiedBy>
  <cp:revision>1</cp:revision>
  <dcterms:created xsi:type="dcterms:W3CDTF">2026-06-20T08:20:50Z</dcterms:created>
  <dcterms:modified xsi:type="dcterms:W3CDTF">2026-06-20T08:20:50Z</dcterms:modified>
</cp:coreProperties>
</file>